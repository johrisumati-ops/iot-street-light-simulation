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Times New Roman Bold" charset="1" panose="02020803070505020304"/>
      <p:regular r:id="rId7"/>
    </p:embeddedFont>
    <p:embeddedFont>
      <p:font typeface="210 수퍼사이즈 Black Box" charset="1" panose="02020503020101020101"/>
      <p:regular r:id="rId8"/>
    </p:embeddedFont>
    <p:embeddedFont>
      <p:font typeface="Times New Roman" charset="1" panose="02020603050405020304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657281"/>
            <a:chOff x="0" y="0"/>
            <a:chExt cx="4816593" cy="14899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489983"/>
            </a:xfrm>
            <a:custGeom>
              <a:avLst/>
              <a:gdLst/>
              <a:ahLst/>
              <a:cxnLst/>
              <a:rect r="r" b="b" t="t" l="l"/>
              <a:pathLst>
                <a:path h="148998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489983"/>
                  </a:lnTo>
                  <a:lnTo>
                    <a:pt x="0" y="1489983"/>
                  </a:lnTo>
                  <a:close/>
                </a:path>
              </a:pathLst>
            </a:custGeom>
            <a:solidFill>
              <a:srgbClr val="4C4C4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1528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96860" y="586236"/>
            <a:ext cx="1430323" cy="1527529"/>
          </a:xfrm>
          <a:custGeom>
            <a:avLst/>
            <a:gdLst/>
            <a:ahLst/>
            <a:cxnLst/>
            <a:rect r="r" b="b" t="t" l="l"/>
            <a:pathLst>
              <a:path h="1527529" w="1430323">
                <a:moveTo>
                  <a:pt x="0" y="0"/>
                </a:moveTo>
                <a:lnTo>
                  <a:pt x="1430323" y="0"/>
                </a:lnTo>
                <a:lnTo>
                  <a:pt x="1430323" y="1527529"/>
                </a:lnTo>
                <a:lnTo>
                  <a:pt x="0" y="1527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127144" y="586236"/>
            <a:ext cx="3771903" cy="1471144"/>
            <a:chOff x="0" y="0"/>
            <a:chExt cx="993423" cy="3874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93423" cy="387462"/>
            </a:xfrm>
            <a:custGeom>
              <a:avLst/>
              <a:gdLst/>
              <a:ahLst/>
              <a:cxnLst/>
              <a:rect r="r" b="b" t="t" l="l"/>
              <a:pathLst>
                <a:path h="387462" w="993423">
                  <a:moveTo>
                    <a:pt x="104679" y="0"/>
                  </a:moveTo>
                  <a:lnTo>
                    <a:pt x="888744" y="0"/>
                  </a:lnTo>
                  <a:cubicBezTo>
                    <a:pt x="946557" y="0"/>
                    <a:pt x="993423" y="46866"/>
                    <a:pt x="993423" y="104679"/>
                  </a:cubicBezTo>
                  <a:lnTo>
                    <a:pt x="993423" y="282783"/>
                  </a:lnTo>
                  <a:cubicBezTo>
                    <a:pt x="993423" y="340595"/>
                    <a:pt x="946557" y="387462"/>
                    <a:pt x="888744" y="387462"/>
                  </a:cubicBezTo>
                  <a:lnTo>
                    <a:pt x="104679" y="387462"/>
                  </a:lnTo>
                  <a:cubicBezTo>
                    <a:pt x="46866" y="387462"/>
                    <a:pt x="0" y="340595"/>
                    <a:pt x="0" y="282783"/>
                  </a:cubicBezTo>
                  <a:lnTo>
                    <a:pt x="0" y="104679"/>
                  </a:lnTo>
                  <a:cubicBezTo>
                    <a:pt x="0" y="46866"/>
                    <a:pt x="46866" y="0"/>
                    <a:pt x="104679" y="0"/>
                  </a:cubicBezTo>
                  <a:close/>
                </a:path>
              </a:pathLst>
            </a:custGeom>
            <a:solidFill>
              <a:srgbClr val="DBDAD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04775"/>
              <a:ext cx="993423" cy="492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19"/>
                </a:lnSpc>
              </a:pPr>
              <a:r>
                <a:rPr lang="en-US" b="true" sz="3799" u="sng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GROUP 5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5267388" y="2241405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568718" y="4286253"/>
            <a:ext cx="5497473" cy="5386860"/>
            <a:chOff x="0" y="0"/>
            <a:chExt cx="1447894" cy="14187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47894" cy="1418761"/>
            </a:xfrm>
            <a:custGeom>
              <a:avLst/>
              <a:gdLst/>
              <a:ahLst/>
              <a:cxnLst/>
              <a:rect r="r" b="b" t="t" l="l"/>
              <a:pathLst>
                <a:path h="1418761" w="1447894">
                  <a:moveTo>
                    <a:pt x="71822" y="0"/>
                  </a:moveTo>
                  <a:lnTo>
                    <a:pt x="1376072" y="0"/>
                  </a:lnTo>
                  <a:cubicBezTo>
                    <a:pt x="1415738" y="0"/>
                    <a:pt x="1447894" y="32156"/>
                    <a:pt x="1447894" y="71822"/>
                  </a:cubicBezTo>
                  <a:lnTo>
                    <a:pt x="1447894" y="1346940"/>
                  </a:lnTo>
                  <a:cubicBezTo>
                    <a:pt x="1447894" y="1365988"/>
                    <a:pt x="1440327" y="1384256"/>
                    <a:pt x="1426858" y="1397725"/>
                  </a:cubicBezTo>
                  <a:cubicBezTo>
                    <a:pt x="1413389" y="1411195"/>
                    <a:pt x="1395121" y="1418761"/>
                    <a:pt x="1376072" y="1418761"/>
                  </a:cubicBezTo>
                  <a:lnTo>
                    <a:pt x="71822" y="1418761"/>
                  </a:lnTo>
                  <a:cubicBezTo>
                    <a:pt x="32156" y="1418761"/>
                    <a:pt x="0" y="1386606"/>
                    <a:pt x="0" y="1346940"/>
                  </a:cubicBezTo>
                  <a:lnTo>
                    <a:pt x="0" y="71822"/>
                  </a:lnTo>
                  <a:cubicBezTo>
                    <a:pt x="0" y="32156"/>
                    <a:pt x="32156" y="0"/>
                    <a:pt x="71822" y="0"/>
                  </a:cubicBezTo>
                  <a:close/>
                </a:path>
              </a:pathLst>
            </a:custGeom>
            <a:solidFill>
              <a:srgbClr val="4C4C4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447894" cy="1456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649999" y="4286253"/>
            <a:ext cx="5497473" cy="5386860"/>
            <a:chOff x="0" y="0"/>
            <a:chExt cx="1447894" cy="14187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47894" cy="1418761"/>
            </a:xfrm>
            <a:custGeom>
              <a:avLst/>
              <a:gdLst/>
              <a:ahLst/>
              <a:cxnLst/>
              <a:rect r="r" b="b" t="t" l="l"/>
              <a:pathLst>
                <a:path h="1418761" w="1447894">
                  <a:moveTo>
                    <a:pt x="71822" y="0"/>
                  </a:moveTo>
                  <a:lnTo>
                    <a:pt x="1376072" y="0"/>
                  </a:lnTo>
                  <a:cubicBezTo>
                    <a:pt x="1415738" y="0"/>
                    <a:pt x="1447894" y="32156"/>
                    <a:pt x="1447894" y="71822"/>
                  </a:cubicBezTo>
                  <a:lnTo>
                    <a:pt x="1447894" y="1346940"/>
                  </a:lnTo>
                  <a:cubicBezTo>
                    <a:pt x="1447894" y="1365988"/>
                    <a:pt x="1440327" y="1384256"/>
                    <a:pt x="1426858" y="1397725"/>
                  </a:cubicBezTo>
                  <a:cubicBezTo>
                    <a:pt x="1413389" y="1411195"/>
                    <a:pt x="1395121" y="1418761"/>
                    <a:pt x="1376072" y="1418761"/>
                  </a:cubicBezTo>
                  <a:lnTo>
                    <a:pt x="71822" y="1418761"/>
                  </a:lnTo>
                  <a:cubicBezTo>
                    <a:pt x="32156" y="1418761"/>
                    <a:pt x="0" y="1386606"/>
                    <a:pt x="0" y="1346940"/>
                  </a:cubicBezTo>
                  <a:lnTo>
                    <a:pt x="0" y="71822"/>
                  </a:lnTo>
                  <a:cubicBezTo>
                    <a:pt x="0" y="32156"/>
                    <a:pt x="32156" y="0"/>
                    <a:pt x="71822" y="0"/>
                  </a:cubicBezTo>
                  <a:close/>
                </a:path>
              </a:pathLst>
            </a:custGeom>
            <a:solidFill>
              <a:srgbClr val="4C4C4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47894" cy="1456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401574" y="4286253"/>
            <a:ext cx="5497473" cy="5386860"/>
            <a:chOff x="0" y="0"/>
            <a:chExt cx="1447894" cy="141876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47894" cy="1418761"/>
            </a:xfrm>
            <a:custGeom>
              <a:avLst/>
              <a:gdLst/>
              <a:ahLst/>
              <a:cxnLst/>
              <a:rect r="r" b="b" t="t" l="l"/>
              <a:pathLst>
                <a:path h="1418761" w="1447894">
                  <a:moveTo>
                    <a:pt x="71822" y="0"/>
                  </a:moveTo>
                  <a:lnTo>
                    <a:pt x="1376072" y="0"/>
                  </a:lnTo>
                  <a:cubicBezTo>
                    <a:pt x="1415738" y="0"/>
                    <a:pt x="1447894" y="32156"/>
                    <a:pt x="1447894" y="71822"/>
                  </a:cubicBezTo>
                  <a:lnTo>
                    <a:pt x="1447894" y="1346940"/>
                  </a:lnTo>
                  <a:cubicBezTo>
                    <a:pt x="1447894" y="1365988"/>
                    <a:pt x="1440327" y="1384256"/>
                    <a:pt x="1426858" y="1397725"/>
                  </a:cubicBezTo>
                  <a:cubicBezTo>
                    <a:pt x="1413389" y="1411195"/>
                    <a:pt x="1395121" y="1418761"/>
                    <a:pt x="1376072" y="1418761"/>
                  </a:cubicBezTo>
                  <a:lnTo>
                    <a:pt x="71822" y="1418761"/>
                  </a:lnTo>
                  <a:cubicBezTo>
                    <a:pt x="32156" y="1418761"/>
                    <a:pt x="0" y="1386606"/>
                    <a:pt x="0" y="1346940"/>
                  </a:cubicBezTo>
                  <a:lnTo>
                    <a:pt x="0" y="71822"/>
                  </a:lnTo>
                  <a:cubicBezTo>
                    <a:pt x="0" y="32156"/>
                    <a:pt x="32156" y="0"/>
                    <a:pt x="71822" y="0"/>
                  </a:cubicBezTo>
                  <a:close/>
                </a:path>
              </a:pathLst>
            </a:custGeom>
            <a:solidFill>
              <a:srgbClr val="4C4C4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447894" cy="1456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2373488" y="7476556"/>
            <a:ext cx="1881494" cy="1974850"/>
          </a:xfrm>
          <a:custGeom>
            <a:avLst/>
            <a:gdLst/>
            <a:ahLst/>
            <a:cxnLst/>
            <a:rect r="r" b="b" t="t" l="l"/>
            <a:pathLst>
              <a:path h="1974850" w="1881494">
                <a:moveTo>
                  <a:pt x="0" y="0"/>
                </a:moveTo>
                <a:lnTo>
                  <a:pt x="1881493" y="0"/>
                </a:lnTo>
                <a:lnTo>
                  <a:pt x="1881493" y="1974850"/>
                </a:lnTo>
                <a:lnTo>
                  <a:pt x="0" y="1974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373488" y="481461"/>
            <a:ext cx="11507351" cy="1678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799">
                <a:solidFill>
                  <a:srgbClr val="FFFFFF"/>
                </a:solidFill>
                <a:latin typeface="210 수퍼사이즈 Black Box"/>
                <a:ea typeface="210 수퍼사이즈 Black Box"/>
                <a:cs typeface="210 수퍼사이즈 Black Box"/>
                <a:sym typeface="210 수퍼사이즈 Black Box"/>
              </a:rPr>
              <a:t>STREET LIGHT AUTOMATION </a:t>
            </a:r>
          </a:p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FFFFFF"/>
                </a:solidFill>
                <a:latin typeface="210 수퍼사이즈 Black Box"/>
                <a:ea typeface="210 수퍼사이즈 Black Box"/>
                <a:cs typeface="210 수퍼사이즈 Black Box"/>
                <a:sym typeface="210 수퍼사이즈 Black Box"/>
              </a:rPr>
              <a:t>AND ENERGY MONITORING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-630492" y="2246843"/>
            <a:ext cx="18288000" cy="516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IOT-Based Intelligent Street Light Controller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-6451218" y="2850809"/>
            <a:ext cx="18288000" cy="516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 u="sng">
                <a:solidFill>
                  <a:srgbClr val="A7F2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DESCRIPTION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68718" y="3510575"/>
            <a:ext cx="15116890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IoT-based smart street lighting system that uses IR sensors to detect vehicle movement and automatically control street lights.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87811" y="4499905"/>
            <a:ext cx="3778682" cy="616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2"/>
              </a:lnSpc>
              <a:spcBef>
                <a:spcPct val="0"/>
              </a:spcBef>
            </a:pPr>
            <a:r>
              <a:rPr lang="en-US" b="true" sz="3487" u="sng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INPUT - SENSORS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6611" y="5259044"/>
            <a:ext cx="4761687" cy="1426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b="true" sz="26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IR Sensor : detects approaching vehicles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6445705" y="4499905"/>
            <a:ext cx="6057319" cy="616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2"/>
              </a:lnSpc>
              <a:spcBef>
                <a:spcPct val="0"/>
              </a:spcBef>
            </a:pPr>
            <a:r>
              <a:rPr lang="en-US" b="true" sz="3487" u="sng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OUTPUT-ACTUATORS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111948" y="5428046"/>
            <a:ext cx="4724833" cy="3608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LED Street Light – provides illumination based on vehicle detection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Computer Vision: Helps in determining the number of vehicles passing through.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IoT Display / Dashboard – shows energy consumption and system status through ThingSpeak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47473" y="4499905"/>
            <a:ext cx="6057319" cy="616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2"/>
              </a:lnSpc>
              <a:spcBef>
                <a:spcPct val="0"/>
              </a:spcBef>
            </a:pPr>
            <a:r>
              <a:rPr lang="en-US" b="true" sz="3487" u="sng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CONTROLLER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585859" y="5442651"/>
            <a:ext cx="5180548" cy="4008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ESP32 – acts as the main microcontroller for processing and control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Built-in WiFi – enables IoT connectivity for real-time data monitoring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GPIO Pins – interface with sensors and actuators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Low power consumption – suitable for energy-efficient smart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DAHG_iMrVBA</dc:identifier>
  <dcterms:modified xsi:type="dcterms:W3CDTF">2011-08-01T06:04:30Z</dcterms:modified>
  <cp:revision>1</cp:revision>
  <dc:title>GROUP 5</dc:title>
</cp:coreProperties>
</file>