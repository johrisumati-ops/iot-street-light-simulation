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  <p:embeddedFont>
      <p:font typeface="210 수퍼사이즈 Black Box" charset="1" panose="02020503020101020101"/>
      <p:regular r:id="rId8"/>
    </p:embeddedFont>
    <p:embeddedFont>
      <p:font typeface="Times New Roman" charset="1" panose="020206030504050203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657281"/>
            <a:chOff x="0" y="0"/>
            <a:chExt cx="4816593" cy="1489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489983"/>
            </a:xfrm>
            <a:custGeom>
              <a:avLst/>
              <a:gdLst/>
              <a:ahLst/>
              <a:cxnLst/>
              <a:rect r="r" b="b" t="t" l="l"/>
              <a:pathLst>
                <a:path h="14899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89983"/>
                  </a:lnTo>
                  <a:lnTo>
                    <a:pt x="0" y="1489983"/>
                  </a:ln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5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6860" y="586236"/>
            <a:ext cx="1430323" cy="1527529"/>
          </a:xfrm>
          <a:custGeom>
            <a:avLst/>
            <a:gdLst/>
            <a:ahLst/>
            <a:cxnLst/>
            <a:rect r="r" b="b" t="t" l="l"/>
            <a:pathLst>
              <a:path h="1527529" w="1430323">
                <a:moveTo>
                  <a:pt x="0" y="0"/>
                </a:moveTo>
                <a:lnTo>
                  <a:pt x="1430323" y="0"/>
                </a:lnTo>
                <a:lnTo>
                  <a:pt x="1430323" y="1527529"/>
                </a:lnTo>
                <a:lnTo>
                  <a:pt x="0" y="1527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127144" y="586236"/>
            <a:ext cx="3771903" cy="1471144"/>
            <a:chOff x="0" y="0"/>
            <a:chExt cx="993423" cy="3874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3423" cy="387462"/>
            </a:xfrm>
            <a:custGeom>
              <a:avLst/>
              <a:gdLst/>
              <a:ahLst/>
              <a:cxnLst/>
              <a:rect r="r" b="b" t="t" l="l"/>
              <a:pathLst>
                <a:path h="387462" w="993423">
                  <a:moveTo>
                    <a:pt x="104679" y="0"/>
                  </a:moveTo>
                  <a:lnTo>
                    <a:pt x="888744" y="0"/>
                  </a:lnTo>
                  <a:cubicBezTo>
                    <a:pt x="946557" y="0"/>
                    <a:pt x="993423" y="46866"/>
                    <a:pt x="993423" y="104679"/>
                  </a:cubicBezTo>
                  <a:lnTo>
                    <a:pt x="993423" y="282783"/>
                  </a:lnTo>
                  <a:cubicBezTo>
                    <a:pt x="993423" y="340595"/>
                    <a:pt x="946557" y="387462"/>
                    <a:pt x="888744" y="387462"/>
                  </a:cubicBezTo>
                  <a:lnTo>
                    <a:pt x="104679" y="387462"/>
                  </a:lnTo>
                  <a:cubicBezTo>
                    <a:pt x="46866" y="387462"/>
                    <a:pt x="0" y="340595"/>
                    <a:pt x="0" y="282783"/>
                  </a:cubicBezTo>
                  <a:lnTo>
                    <a:pt x="0" y="104679"/>
                  </a:lnTo>
                  <a:cubicBezTo>
                    <a:pt x="0" y="46866"/>
                    <a:pt x="46866" y="0"/>
                    <a:pt x="104679" y="0"/>
                  </a:cubicBezTo>
                  <a:close/>
                </a:path>
              </a:pathLst>
            </a:custGeom>
            <a:solidFill>
              <a:srgbClr val="DBDAD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993423" cy="492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b="true" sz="3799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GROUP 5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5267388" y="2241405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68718" y="4286253"/>
            <a:ext cx="5497473" cy="5386860"/>
            <a:chOff x="0" y="0"/>
            <a:chExt cx="1447894" cy="14187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49999" y="4286253"/>
            <a:ext cx="5497473" cy="5386860"/>
            <a:chOff x="0" y="0"/>
            <a:chExt cx="1447894" cy="14187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01574" y="4286253"/>
            <a:ext cx="5497473" cy="5386860"/>
            <a:chOff x="0" y="0"/>
            <a:chExt cx="1447894" cy="14187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373488" y="7476556"/>
            <a:ext cx="1881494" cy="1974850"/>
          </a:xfrm>
          <a:custGeom>
            <a:avLst/>
            <a:gdLst/>
            <a:ahLst/>
            <a:cxnLst/>
            <a:rect r="r" b="b" t="t" l="l"/>
            <a:pathLst>
              <a:path h="1974850" w="1881494">
                <a:moveTo>
                  <a:pt x="0" y="0"/>
                </a:moveTo>
                <a:lnTo>
                  <a:pt x="1881493" y="0"/>
                </a:lnTo>
                <a:lnTo>
                  <a:pt x="1881493" y="1974850"/>
                </a:lnTo>
                <a:lnTo>
                  <a:pt x="0" y="197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73488" y="481461"/>
            <a:ext cx="11507351" cy="167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210 수퍼사이즈 Black Box"/>
                <a:ea typeface="210 수퍼사이즈 Black Box"/>
                <a:cs typeface="210 수퍼사이즈 Black Box"/>
                <a:sym typeface="210 수퍼사이즈 Black Box"/>
              </a:rPr>
              <a:t>STREET LIGHT AUTOMATION 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210 수퍼사이즈 Black Box"/>
                <a:ea typeface="210 수퍼사이즈 Black Box"/>
                <a:cs typeface="210 수퍼사이즈 Black Box"/>
                <a:sym typeface="210 수퍼사이즈 Black Box"/>
              </a:rPr>
              <a:t>AND ENERGY MONITORING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0492" y="2246843"/>
            <a:ext cx="18288000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IOT-Based Intelligent Street Light Controller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6451218" y="2850809"/>
            <a:ext cx="18288000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A7F2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8718" y="3510575"/>
            <a:ext cx="1511689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IoT-based smart street lighting system that uses IR sensors to detect vehicle movement and automatically control street lights.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7811" y="4499905"/>
            <a:ext cx="3778682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- SENSORS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6611" y="5259044"/>
            <a:ext cx="4761687" cy="2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 Sensor : detects approaching vehicles</a:t>
            </a:r>
          </a:p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LDR Sensor: detects ambient light conditions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445705" y="4499905"/>
            <a:ext cx="6057319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OUTPUT-ACTUATORS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11948" y="5428046"/>
            <a:ext cx="4724833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LED Street Light – provides illumination based on vehicle detection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Buzzer(optional) – gives alert or indication of system activity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 Display / Dashboard – shows energy consumption and system status through ThingSpeak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7473" y="4499905"/>
            <a:ext cx="6057319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CONTROLLER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5859" y="5442651"/>
            <a:ext cx="5180548" cy="400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ESP32 – acts as the main microcontroller for processing and control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Built-in WiFi – enables IoT connectivity for real-time data monitoring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GPIO Pins – interface with sensors and actuators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power consumption – suitable for energy-efficient smart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DAHG_iMrVBA</dc:identifier>
  <dcterms:modified xsi:type="dcterms:W3CDTF">2011-08-01T06:04:30Z</dcterms:modified>
  <cp:revision>1</cp:revision>
  <dc:title>GROUP 5</dc:title>
</cp:coreProperties>
</file>